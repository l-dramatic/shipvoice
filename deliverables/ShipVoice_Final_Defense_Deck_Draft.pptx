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b74ae932bb4f87" /><Relationship Type="http://schemas.openxmlformats.org/officeDocument/2006/relationships/extended-properties" Target="/docProps/app.xml" Id="R0140b22b7902483a" /><Relationship Type="http://schemas.openxmlformats.org/officeDocument/2006/relationships/officeDocument" Target="/ppt/presentation.xml" Id="R1780b4ee32504ff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6a7c4fb0ac41a4"/>
  </p:sldMasterIdLst>
  <p:notesMasterIdLst>
    <p:notesMasterId xmlns:r="http://schemas.openxmlformats.org/officeDocument/2006/relationships" r:id="Rbc5b16dcc661424f"/>
  </p:notesMasterIdLst>
  <p:sldIdLst>
    <p:sldId xmlns:r="http://schemas.openxmlformats.org/officeDocument/2006/relationships" id="256" r:id="R981a5223c96c41d3"/>
    <p:sldId xmlns:r="http://schemas.openxmlformats.org/officeDocument/2006/relationships" id="257" r:id="R5001b0dee1d045ff"/>
    <p:sldId xmlns:r="http://schemas.openxmlformats.org/officeDocument/2006/relationships" id="258" r:id="Rdadc6dd0e0ce41af"/>
    <p:sldId xmlns:r="http://schemas.openxmlformats.org/officeDocument/2006/relationships" id="259" r:id="R8ca7eee4058549d2"/>
    <p:sldId xmlns:r="http://schemas.openxmlformats.org/officeDocument/2006/relationships" id="260" r:id="Rb0e084847fc84840"/>
    <p:sldId xmlns:r="http://schemas.openxmlformats.org/officeDocument/2006/relationships" id="261" r:id="Rfa35439be1af4a55"/>
    <p:sldId xmlns:r="http://schemas.openxmlformats.org/officeDocument/2006/relationships" id="262" r:id="R781309b193bf4b1a"/>
    <p:sldId xmlns:r="http://schemas.openxmlformats.org/officeDocument/2006/relationships" id="263" r:id="Rba2954de431d4d37"/>
    <p:sldId xmlns:r="http://schemas.openxmlformats.org/officeDocument/2006/relationships" id="264" r:id="Rf42838a970594a47"/>
    <p:sldId xmlns:r="http://schemas.openxmlformats.org/officeDocument/2006/relationships" id="265" r:id="R50d9afe07a7646c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5879f1c1ede423c" /><Relationship Type="http://schemas.openxmlformats.org/officeDocument/2006/relationships/slideMaster" Target="/ppt/slideMasters/slideMaster1.xml" Id="R926a7c4fb0ac41a4" /><Relationship Type="http://schemas.openxmlformats.org/officeDocument/2006/relationships/notesMaster" Target="/ppt/notesMasters/notesMaster1.xml" Id="Rbc5b16dcc661424f" /><Relationship Type="http://schemas.openxmlformats.org/officeDocument/2006/relationships/presProps" Target="/ppt/presProps.xml" Id="Reb53b4f9c49040f5" /><Relationship Type="http://schemas.openxmlformats.org/officeDocument/2006/relationships/tableStyles" Target="/ppt/tableStyles.xml" Id="Rcba4d1d2e8bc48e0" /><Relationship Type="http://schemas.openxmlformats.org/officeDocument/2006/relationships/slide" Target="/ppt/slides/slide1.xml" Id="R981a5223c96c41d3" /><Relationship Type="http://schemas.openxmlformats.org/officeDocument/2006/relationships/slide" Target="/ppt/slides/slide2.xml" Id="R5001b0dee1d045ff" /><Relationship Type="http://schemas.openxmlformats.org/officeDocument/2006/relationships/slide" Target="/ppt/slides/slide3.xml" Id="Rdadc6dd0e0ce41af" /><Relationship Type="http://schemas.openxmlformats.org/officeDocument/2006/relationships/slide" Target="/ppt/slides/slide4.xml" Id="R8ca7eee4058549d2" /><Relationship Type="http://schemas.openxmlformats.org/officeDocument/2006/relationships/slide" Target="/ppt/slides/slide5.xml" Id="Rb0e084847fc84840" /><Relationship Type="http://schemas.openxmlformats.org/officeDocument/2006/relationships/slide" Target="/ppt/slides/slide6.xml" Id="Rfa35439be1af4a55" /><Relationship Type="http://schemas.openxmlformats.org/officeDocument/2006/relationships/slide" Target="/ppt/slides/slide7.xml" Id="R781309b193bf4b1a" /><Relationship Type="http://schemas.openxmlformats.org/officeDocument/2006/relationships/slide" Target="/ppt/slides/slide8.xml" Id="Rba2954de431d4d37" /><Relationship Type="http://schemas.openxmlformats.org/officeDocument/2006/relationships/slide" Target="/ppt/slides/slide9.xml" Id="Rf42838a970594a47" /><Relationship Type="http://schemas.openxmlformats.org/officeDocument/2006/relationships/slide" Target="/ppt/slides/slide10.xml" Id="R50d9afe07a7646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01f20379dc943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25704349724592" /><Relationship Type="http://schemas.openxmlformats.org/officeDocument/2006/relationships/notesMaster" Target="/ppt/notesMasters/notesMaster1.xml" Id="Rc7f0f84cc8df4f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36bb75c69604f7a" /><Relationship Type="http://schemas.openxmlformats.org/officeDocument/2006/relationships/notesMaster" Target="/ppt/notesMasters/notesMaster1.xml" Id="Rfac6ad43aba34b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9efe5bf51ac470e" /><Relationship Type="http://schemas.openxmlformats.org/officeDocument/2006/relationships/notesMaster" Target="/ppt/notesMasters/notesMaster1.xml" Id="R01ecea77baa64f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7819f1780346df" /><Relationship Type="http://schemas.openxmlformats.org/officeDocument/2006/relationships/notesMaster" Target="/ppt/notesMasters/notesMaster1.xml" Id="R72bf8e311aae4f4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2c5801ea9a4ea2" /><Relationship Type="http://schemas.openxmlformats.org/officeDocument/2006/relationships/notesMaster" Target="/ppt/notesMasters/notesMaster1.xml" Id="R08426134b507404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5c19478fa44c0e" /><Relationship Type="http://schemas.openxmlformats.org/officeDocument/2006/relationships/notesMaster" Target="/ppt/notesMasters/notesMaster1.xml" Id="Rbda9d9553b9249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bdab6b566f64dca" /><Relationship Type="http://schemas.openxmlformats.org/officeDocument/2006/relationships/notesMaster" Target="/ppt/notesMasters/notesMaster1.xml" Id="R058fe269f0294e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feaa55024b944fa" /><Relationship Type="http://schemas.openxmlformats.org/officeDocument/2006/relationships/notesMaster" Target="/ppt/notesMasters/notesMaster1.xml" Id="R1308a0b68b344ad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ac6aecb7f894013" /><Relationship Type="http://schemas.openxmlformats.org/officeDocument/2006/relationships/notesMaster" Target="/ppt/notesMasters/notesMaster1.xml" Id="Rf24649fc0b9a477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859b937b4da4ebe" /><Relationship Type="http://schemas.openxmlformats.org/officeDocument/2006/relationships/notesMaster" Target="/ppt/notesMasters/notesMaster1.xml" Id="R8599b76f10ae4f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b36ecb8cfe490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a39b8e69d1a4d32" /><Relationship Type="http://schemas.openxmlformats.org/officeDocument/2006/relationships/slideLayout" Target="/ppt/slideLayouts/slideLayout1.xml" Id="R00eb673aa1074b3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eb673aa1074b3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aa07f597c34b51" /><Relationship Type="http://schemas.openxmlformats.org/officeDocument/2006/relationships/notesSlide" Target="/ppt/notesSlides/notesSlide1.xml" Id="R1e14bd7b4f9049b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fc7bd54374709" /><Relationship Type="http://schemas.openxmlformats.org/officeDocument/2006/relationships/notesSlide" Target="/ppt/notesSlides/notesSlide2.xml" Id="Rbb070942da1647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9f26b0a1bb4614" /><Relationship Type="http://schemas.openxmlformats.org/officeDocument/2006/relationships/notesSlide" Target="/ppt/notesSlides/notesSlide3.xml" Id="R00f4bd164fc84ab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51968822e34e01" /><Relationship Type="http://schemas.openxmlformats.org/officeDocument/2006/relationships/notesSlide" Target="/ppt/notesSlides/notesSlide4.xml" Id="R50b72ce362654fa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2665ee00f34dc8" /><Relationship Type="http://schemas.openxmlformats.org/officeDocument/2006/relationships/notesSlide" Target="/ppt/notesSlides/notesSlide5.xml" Id="Rec084f51283544e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7f705c698b4a18" /><Relationship Type="http://schemas.openxmlformats.org/officeDocument/2006/relationships/image" Target="/ppt/media/image.jpeg" Id="R7c1c7f9e18774e05" /><Relationship Type="http://schemas.openxmlformats.org/officeDocument/2006/relationships/image" Target="/ppt/media/image2.jpeg" Id="R6b486e1d96164a04" /><Relationship Type="http://schemas.openxmlformats.org/officeDocument/2006/relationships/notesSlide" Target="/ppt/notesSlides/notesSlide6.xml" Id="Rc716ed16b2f146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4c4e60542c42af" /><Relationship Type="http://schemas.openxmlformats.org/officeDocument/2006/relationships/notesSlide" Target="/ppt/notesSlides/notesSlide7.xml" Id="Rbf9cea750f354a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a372b9128d4b97" /><Relationship Type="http://schemas.openxmlformats.org/officeDocument/2006/relationships/notesSlide" Target="/ppt/notesSlides/notesSlide8.xml" Id="Rf5eaa332421c42a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2905f7fab64988" /><Relationship Type="http://schemas.openxmlformats.org/officeDocument/2006/relationships/notesSlide" Target="/ppt/notesSlides/notesSlide9.xml" Id="R8b88425e0f064b6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21195d77bf4d7e" /><Relationship Type="http://schemas.openxmlformats.org/officeDocument/2006/relationships/notesSlide" Target="/ppt/notesSlides/notesSlide10.xml" Id="Rc009495893bc4c8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C9194A-2221-418C-8690-B10FE176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solidFill>
              <a:srgbClr val="0B254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805BE0-2519-40E9-9639-42F9AFC6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solidFill>
              <a:srgbClr val="0B254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A7B2FC-9333-4B14-A343-6BC6B8CB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6667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ShipVoice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95146F-1C6D-4D14-9D83-D32B3DF4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00200"/>
            <a:ext cx="7429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DE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DDEBFF"/>
                </a:solidFill>
                <a:latin typeface="Microsoft YaHei"/>
                <a:ea typeface="Microsoft YaHei"/>
                <a:cs typeface="Microsoft YaHei"/>
              </a:rPr>
              <a:t>船厂安全实时语音问答助手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FE55A8-70AD-499C-8AD9-B561A885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9C7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A9C7F5"/>
                </a:solidFill>
                <a:latin typeface="Microsoft YaHei"/>
                <a:ea typeface="Microsoft YaHei"/>
                <a:cs typeface="Microsoft YaHei"/>
              </a:rPr>
              <a:t>A2 级联式语音问答系统复现与改进 | 安全门控 + RAG + Qwen LoRA 实验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3F0D6C-DF19-4F4B-9A64-1177C80A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19400"/>
            <a:ext cx="409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6B6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4EFE18-E8B5-4930-B1FF-9D4B5FE4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1463CD-A034-4CAE-85DE-8BA2674F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7C9E8"/>
                </a:solidFill>
                <a:latin typeface="Microsoft YaHei"/>
                <a:ea typeface="Microsoft YaHei"/>
                <a:cs typeface="Microsoft YaHei"/>
              </a:rPr>
              <a:t>知识条目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CFB121-FBE6-4306-98E5-1136F9E9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27660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55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88740D-E290-489E-A19E-BC132A77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719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7C9E8"/>
                </a:solidFill>
                <a:latin typeface="Microsoft YaHei"/>
                <a:ea typeface="Microsoft YaHei"/>
                <a:cs typeface="Microsoft YaHei"/>
              </a:rPr>
              <a:t>安全评测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5FD892-3A89-449A-B5E5-E238F6054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27660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44C037-0BC9-4EFA-87A4-ADF392BA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719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7C9E8"/>
                </a:solidFill>
                <a:latin typeface="Microsoft YaHei"/>
                <a:ea typeface="Microsoft YaHei"/>
                <a:cs typeface="Microsoft YaHei"/>
              </a:rPr>
              <a:t>危险误放行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6D4852-C508-4B27-9F91-5D6405992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7660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0.168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4D6AC9-9891-4030-8CC7-3BE3B2C1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719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7C9E8"/>
                </a:solidFill>
                <a:latin typeface="Microsoft YaHei"/>
                <a:ea typeface="Microsoft YaHei"/>
                <a:cs typeface="Microsoft YaHei"/>
              </a:rPr>
              <a:t>LoRA train loss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49874D-3B02-406C-803F-00127E4A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912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68"/>
          </a:solidFill>
          <a:ln xmlns:a="http://schemas.openxmlformats.org/drawingml/2006/main" w="0">
            <a:solidFill>
              <a:srgbClr val="163B6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12262E-A5F2-4E57-BF92-7FCC5D1D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57875"/>
            <a:ext cx="1962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DE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DEBFF"/>
                </a:solidFill>
                <a:latin typeface="Microsoft YaHei"/>
                <a:ea typeface="Microsoft YaHei"/>
                <a:cs typeface="Microsoft YaHei"/>
              </a:rPr>
              <a:t>姓名 / 学号待补充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40709D-8FD3-497B-A2DA-415C17AB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293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B7C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B7C9E8"/>
                </a:solidFill>
                <a:latin typeface="Microsoft YaHei"/>
                <a:ea typeface="Microsoft YaHei"/>
                <a:cs typeface="Microsoft YaHei"/>
              </a:rPr>
              <a:t>2026-06-08</a:t>
            </a:r>
          </a:p>
        </p:txBody>
      </p:sp>
    </p:spTree>
    <p:extLst>
      <p:ext uri="{BB962C8B-B14F-4D97-AF65-F5344CB8AC3E}">
        <p14:creationId xmlns:p14="http://schemas.microsoft.com/office/powerpoint/2010/main" val="126151863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BD564F-E891-408A-ACC6-BFB73FF9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F7F9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430C3E-FCE3-4C95-9083-AB80B8F4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1DA0A1-87AB-4FA3-A7D9-BE9FB504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181611-3BD5-4F07-A8C1-3F38EE63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85800"/>
            <a:ext cx="9334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21826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21826"/>
                </a:solidFill>
                <a:latin typeface="Aptos Display"/>
                <a:ea typeface="Aptos Display"/>
                <a:cs typeface="Aptos Display"/>
              </a:rPr>
              <a:t>船厂安全问答不能只做“语音转文字 + 大模型”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EF1376-C58F-467C-9BFB-223C940B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高风险作业场景需要领域术语、审批约束和拒答边界。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39E3C-1D09-466A-B96C-A3717D5A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13DC6E-A874-412F-9F86-FAD78CF69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FADD49-B160-4CF3-818B-255FB178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30099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术语密集：密闭舱室、舾装、管路试压、分段吊装等问题需要专业语境。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114D3B-B177-4F99-BCB1-C40CB421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0025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71DDE2-2177-4A31-8938-64143AFD6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002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CBFE8C-016A-4468-BA56-A053F011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33600"/>
            <a:ext cx="30099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安全关键：错误建议可能诱导跳过审批、检测、监护或消防准备。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F85965-0462-479F-BCCB-3D4D75B5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0025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2FAF67-68EA-47F8-A8AC-780E80F0A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002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B58F81-B402-4AB7-9A30-F7BCF046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33600"/>
            <a:ext cx="30099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现场演示风险：GPU、网络或模型服务不可用时，系统仍要能稳定答辩。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B2C02A-65CC-490F-9B97-2B595C57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3AAE90-A766-474D-913D-3D5A2B7E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CF1F34-1769-4D71-88D9-999DD002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195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安全前置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5983E8-D982-4E4E-9245-DE73BACC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38150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先门控，再生成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EBD049-71A2-42DD-B290-4EC5BF3A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0525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3AA90C-38E5-4931-9AC3-89C46CAF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0525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3AD999-189E-4D9F-9BB0-EDA906BE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40195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证据约束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5FB765-3327-4C26-949A-D39F737E1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438150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RAG 不是装饰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C139ED-B484-47F4-A51E-4683A267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0525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3C75AF-23AA-4F1C-BAA2-EC4BADEC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0525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46F80B-8519-47B4-AC46-981E85BB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195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可降级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86FF15-BDCD-4280-9D3C-E0DEF648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38150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mock fallback 保底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450CE0-ED76-4103-BB83-31596606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0080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ShipVoice | 信息安全基础 A2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C15EAA-E68B-4583-91BE-AAD79C96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9613489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07199F-0340-42D2-9A73-25D89AA5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F7F9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75E2E7-268F-4D96-A20F-19CC53D5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492A88-3EB6-47AE-AD0C-371D2A159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697BA-BC11-4FB4-86E8-E75763F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85800"/>
            <a:ext cx="9334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21826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21826"/>
                </a:solidFill>
                <a:latin typeface="Aptos Display"/>
                <a:ea typeface="Aptos Display"/>
                <a:cs typeface="Aptos Display"/>
              </a:rPr>
              <a:t>主链路是安全级联，不是裸模型链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3D95CA-2F06-4E7C-8420-BC18913E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每个模块都有可演示输出和实验记录。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96F0AA-758F-436A-81C1-52520F83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0"/>
            <a:ext cx="13906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F724A8-FF9C-49F1-84C6-63EA6C5B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0"/>
            <a:ext cx="1390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6B6D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E2053F-27EA-44BA-A856-7FDD78BD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Voice / 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C16C7F-081D-4F1D-BC2E-4C986CB5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71800"/>
            <a:ext cx="1162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输入与转写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B927D5-6ADC-4BCA-B4B6-001909A0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857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D8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5A47B1-AD3C-491C-96DA-53192A456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7051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8B060A-5449-41B7-88AC-00761979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381250"/>
            <a:ext cx="13906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20C670-4F3D-4A55-99F7-3A86C42A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381250"/>
            <a:ext cx="1390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6B6D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2D49E4-EADA-4909-A23F-9D71F233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289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Normalize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9E0B64-01B4-44E7-8688-CB54A7C6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971800"/>
            <a:ext cx="1162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术语保留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F5AD8A-7F47-4DE8-B6F5-37E89D42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57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D8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E5DEFA-5F49-42B7-926A-885CFBC5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7051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BA9773-BD43-4B13-B788-9F9DD3DF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381250"/>
            <a:ext cx="13906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231565-3A1C-47C3-B4E8-AF7A30B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381250"/>
            <a:ext cx="1390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F85A0F-5833-4CDA-A390-D5B31574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6289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Safety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98BB6D-2960-4054-B7D3-12E419FE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971800"/>
            <a:ext cx="1162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越界拒答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8C4C80-A400-4CA3-908F-62D835D6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857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D8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B39349-5B65-4639-A54D-E07E56B2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051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B75CCF-0C9E-47C6-A69D-C857EBD67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81250"/>
            <a:ext cx="13906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F"/>
          </a:solidFill>
          <a:ln xmlns:a="http://schemas.openxmlformats.org/drawingml/2006/main" w="9525">
            <a:solidFill>
              <a:srgbClr val="D7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7B53D1-D0BE-4545-9B5E-52B67261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81250"/>
            <a:ext cx="1390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93E945-CB0C-4319-80D3-1C99F467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6289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RAG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2BC5E7-7571-4E5A-9519-D2067C4A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971800"/>
            <a:ext cx="1162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证据检索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9B4BEA-A99D-4207-AA5D-3FEAB990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57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D8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871C5A-A462-4D2A-B02A-B81ABF6E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7051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0E5DA5-C9B1-4FAD-B2C8-85FECBBA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381250"/>
            <a:ext cx="13906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5F33FC-6912-45FE-A3E1-A4B72C60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381250"/>
            <a:ext cx="1390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6B6D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665DDA-B6FB-4117-90FD-845F86BE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289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LLM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95C3E0-2CBC-482B-B893-0D0FBBCB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971800"/>
            <a:ext cx="1162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回答生成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724D22-78B6-4779-BC93-1ECE6FEA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57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D8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3958F95-ACFA-40C5-8BFB-61843642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051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0424B9-A8B9-4088-9CFF-BEB1DC4D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81250"/>
            <a:ext cx="13906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3F80C9-AEE2-407F-940F-E5D39127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81250"/>
            <a:ext cx="1390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6B6D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CF6E987-BB27-4BAC-B0A2-5A4B0817F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6289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Playback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2514A3-0AB6-45CD-9D0A-42C83C8E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971800"/>
            <a:ext cx="1162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句级播报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8DB2570-DFBE-4150-856D-64015627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857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D8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8D3CEE2-0498-4AA9-90B3-4112129A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4175" y="27051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C8E9887-2F76-4E27-A221-FE1DFA72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381250"/>
            <a:ext cx="13906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BF3"/>
          </a:solidFill>
          <a:ln xmlns:a="http://schemas.openxmlformats.org/drawingml/2006/main" w="9525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8347A71-E62A-4D66-9171-CAFE6C8B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381250"/>
            <a:ext cx="1390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B006F0C-3ABA-4E28-961E-744DFA85D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6289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Logging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71D4F6A-DA7F-4652-8F98-16950A9B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71800"/>
            <a:ext cx="1162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指标记录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91F914C-7329-42E0-9E15-0AE2A7ED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71950"/>
            <a:ext cx="276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2"/>
          </a:solidFill>
          <a:ln xmlns:a="http://schemas.openxmlformats.org/drawingml/2006/main" w="0">
            <a:solidFill>
              <a:srgbClr val="FFF1F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9635377-794B-4639-9804-7E4C0A32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38625"/>
            <a:ext cx="2533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原则 1：危险请求在模型前拦截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98CB98C-F4A1-4063-B814-56BC3825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71950"/>
            <a:ext cx="276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F"/>
          </a:solidFill>
          <a:ln xmlns:a="http://schemas.openxmlformats.org/drawingml/2006/main" w="0">
            <a:solidFill>
              <a:srgbClr val="E8F1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C341911-EF47-4DC5-955A-EF0B5147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238625"/>
            <a:ext cx="2533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原则 2：领域回答必须带证据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800A9E-903F-4D0D-A699-668E0B19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171950"/>
            <a:ext cx="276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BF3"/>
          </a:solidFill>
          <a:ln xmlns:a="http://schemas.openxmlformats.org/drawingml/2006/main" w="0">
            <a:solidFill>
              <a:srgbClr val="EAFBF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FE72542-D446-4327-808E-6C560113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38625"/>
            <a:ext cx="2533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B9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B981"/>
                </a:solidFill>
                <a:latin typeface="Microsoft YaHei"/>
                <a:ea typeface="Microsoft YaHei"/>
                <a:cs typeface="Microsoft YaHei"/>
              </a:rPr>
              <a:t>原则 3：答辩现场可无 GPU 运行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EA434CF-8BAA-45EB-929F-831EB687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0080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ShipVoice | 信息安全基础 A2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3B5342F-4C5C-4CE8-AEF4-97BEE490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2443063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E21719-B2E8-443C-801A-AA94FE2C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F7F9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FD13AF-03BE-4E04-8DA1-303C008A2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D292B2-0998-4A3E-B5A5-BAA04FD3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RAG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6D8D95-0413-4B02-8309-A846E1E3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85800"/>
            <a:ext cx="9334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21826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21826"/>
                </a:solidFill>
                <a:latin typeface="Aptos Display"/>
                <a:ea typeface="Aptos Display"/>
                <a:cs typeface="Aptos Display"/>
              </a:rPr>
              <a:t>知识库让回答可解释，检索评测让结果可量化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902CEF-7846-4930-8667-B7A910AE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ShipVoice 不是凭空生成安全建议。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FC83A4-5DED-419C-9FEF-BA4869FA1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D5F5A1-0E3A-4FF2-B10F-405B152A0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152F18-FAE1-452E-B3D6-F3A448B7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B6CF53-0AF6-4E02-9763-1E29F306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14600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船厂安全知识条目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6058EE-9DD7-4196-AF03-12589B95B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03835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153962-89DD-4D45-9807-FA5D2FF2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03835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1F1499-57EC-4D61-BEE4-BB673D1F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5/5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EA25DE-FECC-421F-9805-00FD8AAC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14600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代表问题 hit@1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E6788A-ACED-47D6-B6D7-1017F8BD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03835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D91D27-1CE7-4BA1-A6ED-D1F7A520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03835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0EA012-0406-472D-88D6-D5A65340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15265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5/5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FEAD08-2C5A-4813-B908-5E0090A6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514600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代表问题 hit@3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BFF099-9C2F-494E-9E36-BA6C1EACA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3835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412429-8FBC-43F2-92AA-B608AAC4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3835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7F902F-0C9F-45F6-808E-C24A3B7D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5265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824A14-34B6-4798-BC6D-5F546560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14600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每次回答展示证据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F461CF-F468-41CB-9D57-009C3D5E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33800"/>
            <a:ext cx="4572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1C0669-5F3D-41B5-A445-5B738203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33800"/>
            <a:ext cx="47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34FFC6-ADF9-4DAB-91B0-7E22C0F8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67150"/>
            <a:ext cx="4248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覆盖主题：密闭舱室、动火、高处焊接、船体分段吊装、舾装管路试压、压载水舱检修、PPE、应急处置、术语识别。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CD6408-C1A6-4A0B-9F5E-716050C5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33800"/>
            <a:ext cx="4572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B5FC35-837F-43B8-A1E4-EE581126E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33800"/>
            <a:ext cx="47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8C31FA-AEF9-458C-AF93-0E15B8E3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67150"/>
            <a:ext cx="4248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证据展示：每次回答显示 top-k 知识条目、检索分数和门控标签，便于老师现场追问时解释系统行为。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695AD1-465D-45D9-9342-661E3CD0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0080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ShipVoice | 信息安全基础 A2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D348EE-EAF5-45A5-956B-A9E5579C7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1495248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589AF2-053E-4EE9-A864-7094C83E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F7F9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E1E9FE-62D3-436E-92E8-B4D198D4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A19806-2829-4E2B-8B6B-3B860DCA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SAFETY GATE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5DA6DC-21DE-4FBF-A127-E7D8F75E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85800"/>
            <a:ext cx="9334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21826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21826"/>
                </a:solidFill>
                <a:latin typeface="Aptos Display"/>
                <a:ea typeface="Aptos Display"/>
                <a:cs typeface="Aptos Display"/>
              </a:rPr>
              <a:t>安全门控把高风险输入挡在生成之前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8A237C-9944-4972-B7B2-9FB22822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55 条 benchmark 验证离题、违规绕行、提示注入和边界应急。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90D317-8B1B-48DC-97CB-14EB913E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6215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solidFill>
              <a:srgbClr val="FFF7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F25F46-2EC2-4F9E-894D-8C3DD1A5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28825"/>
            <a:ext cx="1295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off-domain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324B8A-521B-4F32-BC9F-899B0CD7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000250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股票投资等非船厂安全问题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D15D0-9C57-47EC-8632-3A2C2C3A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00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短路拒答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BAF284-02D5-49B1-B7C6-8782B70E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3840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0"/>
          </a:solidFill>
          <a:ln xmlns:a="http://schemas.openxmlformats.org/drawingml/2006/main" w="0">
            <a:solidFill>
              <a:srgbClr val="DDE5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1FAD01-33A2-4E7E-8182-DEA98628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2"/>
          </a:solidFill>
          <a:ln xmlns:a="http://schemas.openxmlformats.org/drawingml/2006/main" w="0">
            <a:solidFill>
              <a:srgbClr val="FFF1F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ABBECC-1D3F-4994-944F-C9EEBE56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47975"/>
            <a:ext cx="1295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unsafe request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649AB0-85BB-4685-826C-6BAD59B6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819400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绕过检查、跳过审批、破坏流程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CD64D6-0A6C-42FE-849B-1F857865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194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拒绝并重申规范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1034D1-31EC-4CD0-94CD-E863B4988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5755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0"/>
          </a:solidFill>
          <a:ln xmlns:a="http://schemas.openxmlformats.org/drawingml/2006/main" w="0">
            <a:solidFill>
              <a:srgbClr val="DDE5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A95EFD-6825-4355-9836-36F73EA4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2"/>
          </a:solidFill>
          <a:ln xmlns:a="http://schemas.openxmlformats.org/drawingml/2006/main" w="0">
            <a:solidFill>
              <a:srgbClr val="FFF1F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34A5AC-3EFD-4200-8670-28506247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67125"/>
            <a:ext cx="1295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prompt injection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695016-9729-4B7C-B857-4257CB79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38550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要求忽略安全规则或规避审批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AFE8B5-D8D6-4126-90D6-574F5FB9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385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不服从恶意指令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C54B7D-D96A-4FDF-A261-F1AB9834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7670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0"/>
          </a:solidFill>
          <a:ln xmlns:a="http://schemas.openxmlformats.org/drawingml/2006/main" w="0">
            <a:solidFill>
              <a:srgbClr val="DDE5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CFFA52-52E3-4DC4-8545-15CAAC4E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BF3"/>
          </a:solidFill>
          <a:ln xmlns:a="http://schemas.openxmlformats.org/drawingml/2006/main" w="0">
            <a:solidFill>
              <a:srgbClr val="EAFBF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3F95DE-A9E1-4E0E-89C7-6CD506A0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86275"/>
            <a:ext cx="1295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B9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B981"/>
                </a:solidFill>
                <a:latin typeface="Microsoft YaHei"/>
                <a:ea typeface="Microsoft YaHei"/>
                <a:cs typeface="Microsoft YaHei"/>
              </a:rPr>
              <a:t>domain-safe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329531-071E-4C74-B055-AEA5DE5B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457700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密闭舱室、动火、吊装、试压等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5C1DFF-E99B-4600-AB35-738A1389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577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B9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B981"/>
                </a:solidFill>
                <a:latin typeface="Microsoft YaHei"/>
                <a:ea typeface="Microsoft YaHei"/>
                <a:cs typeface="Microsoft YaHei"/>
              </a:rPr>
              <a:t>进入 RAG + 生成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BA499E-B0AC-457D-B925-6C7FEED6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9585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0"/>
          </a:solidFill>
          <a:ln xmlns:a="http://schemas.openxmlformats.org/drawingml/2006/main" w="0">
            <a:solidFill>
              <a:srgbClr val="DDE5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10AE6C-6916-4C5B-9F05-34C4C414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24500"/>
            <a:ext cx="952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1CF0B6-AB3E-4D0D-8D4A-436622D2B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2450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44F0E3-455C-438A-997A-3F23AD8D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57850"/>
            <a:ext cx="920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当前完整 pipeline 安全评测：标签准确率 100.0%，allow/block 决策准确率 100.0%，危险请求误放行 0。LoRA 不能绕过门控。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33F433-3320-47E4-82D3-24AB75FE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0080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ShipVoice | 信息安全基础 A2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5D571C-B8DB-44F4-94A3-12248F4B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9106145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7E4B79-76D4-4C29-95FD-61F65D9FC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F7F9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F78ECF-65DD-4C82-AC8B-3CB187D0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7FCDB8-35D2-4BAF-9564-859A31D4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291426-C8D2-40DF-A092-D4B97169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85800"/>
            <a:ext cx="9334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21826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21826"/>
                </a:solidFill>
                <a:latin typeface="Aptos Display"/>
                <a:ea typeface="Aptos Display"/>
                <a:cs typeface="Aptos Display"/>
              </a:rPr>
              <a:t>本地演示面板展示完整决策过程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AE2AEE-1674-4F17-97BC-8F2C0D5E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无 GPU 时也可以跑通输入、门控、证据、回答和指标。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c7f9e18774e05"/>
          <a:stretch xmlns:a="http://schemas.openxmlformats.org/drawingml/2006/main"/>
        </p:blipFill>
        <p:spPr>
          <a:xfrm xmlns:a="http://schemas.openxmlformats.org/drawingml/2006/main">
            <a:off x="666750" y="1916454"/>
            <a:ext cx="5143500" cy="2929842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486e1d96164a04"/>
          <a:stretch xmlns:a="http://schemas.openxmlformats.org/drawingml/2006/main"/>
        </p:blipFill>
        <p:spPr>
          <a:xfrm xmlns:a="http://schemas.openxmlformats.org/drawingml/2006/main">
            <a:off x="6477000" y="1970710"/>
            <a:ext cx="4953000" cy="282132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6B9B03-0735-4B95-B3C8-6A68034D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19700"/>
            <a:ext cx="981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演示问题覆盖：安全作业、领域术语、off-domain、危险请求、prompt injection。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1E21A3-81E3-4087-9ECD-C004BB99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0080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ShipVoice | 信息安全基础 A2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762983-9C2B-489D-910E-B04F0DB5B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1497542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4CF2DA-EC02-491F-863A-AE9B55D1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F7F9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4F87DC-0300-403B-B8B7-458016B80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44DEC6-BE7A-4EBF-B8C5-2B1BF8CB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FINE-TUNING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0B551F-2AF2-4F35-9672-FDF8C6D73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85800"/>
            <a:ext cx="9334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21826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21826"/>
                </a:solidFill>
                <a:latin typeface="Aptos Display"/>
                <a:ea typeface="Aptos Display"/>
                <a:cs typeface="Aptos Display"/>
              </a:rPr>
              <a:t>LoRA/QLoRA 是超出要求的领域适配实验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A6944-9DAA-4756-8CE2-147826F9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我们跑了真实远端 GPU 训练，而不是只写计划。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B9DEE6-F025-45D7-B8DA-1E49B48B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E6590C-B270-4FA0-A9A7-BC61814C3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A00E16-3334-4C73-BF23-5D8DE2E6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3360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Qwen2.5-7B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10584C-15EA-4B77-9E66-F8D6238B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Base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426D6D-D8E0-4ACE-BBDE-0E4B3ED1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01930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197776-2B0E-4161-86A0-357B2180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01930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6B6D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5D3352-CBB2-4BFC-9AAA-1E2AFD81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336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6B6D4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6B6D4"/>
                </a:solidFill>
                <a:latin typeface="Aptos Display"/>
                <a:ea typeface="Aptos Display"/>
                <a:cs typeface="Aptos Display"/>
              </a:rPr>
              <a:t>RTX 4090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8CA554-E0AD-450F-A3A0-04112B5E3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95550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24GB GPU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27CD65-51EF-46C4-83BF-C7694D0B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1930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DA7AE9-118D-4E93-832F-EE9D4575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1930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7CFCE7-8864-4C84-952D-6C68BCAA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33600"/>
            <a:ext cx="1466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1000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05B039-DD41-4B57-9C9D-7AE1CE34F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9555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SFT train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E8F815-3A11-420C-A820-8413B852D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01930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ECD567-4152-4D4C-A4D1-353293109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01930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CB2C4F-017E-4278-A6A0-C7EDA93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33600"/>
            <a:ext cx="1466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250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F27DE6-F652-4AC0-87D1-DE7F642F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9555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optimizer steps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93A2AA-8E95-4749-9BFA-C93957B6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57600"/>
            <a:ext cx="4476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D51092-6610-4801-B2A6-68C79D63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57600"/>
            <a:ext cx="47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A6D68E-9194-474A-B476-8A933179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90950"/>
            <a:ext cx="4152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训练配置：4-bit LoRA/QLoRA，target modules 覆盖 attention 与 MLP 投影层，2 epochs，最终 train_loss = 0.1677。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848221-E67B-4850-A91E-6A0B561B0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57600"/>
            <a:ext cx="4476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E8A90F-57A1-4802-91A5-7664839D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57600"/>
            <a:ext cx="47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3B60F5-C659-4713-B5EC-5B0E12659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90950"/>
            <a:ext cx="4152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产物证据：150 条 holdout 对比、adapter_model.safetensors 约 154MB，base/LoRA JSONL、训练日志与 artifact manifest 均已拉回本地。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BC66DB-4812-4F7D-837C-0B0B44E3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0080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ShipVoice | 信息安全基础 A2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99F2BA-A56E-4917-BEF3-CCC2A47D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3480264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417022-88DE-44C0-8D6A-0A5B5C1DC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F7F9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BAF73A-6B4A-44CD-8907-693A6CC4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074C97-44F8-4F65-87FF-B5A7A4E1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194F6-DF5B-432F-8669-E2FCAC84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85800"/>
            <a:ext cx="9334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21826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21826"/>
                </a:solidFill>
                <a:latin typeface="Aptos Display"/>
                <a:ea typeface="Aptos Display"/>
                <a:cs typeface="Aptos Display"/>
              </a:rPr>
              <a:t>Base 与 LoRA 对比：微调用于增强，不替代门控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B0CAE3-0FCF-47DF-A836-02AB3898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实验结果支持安全架构，而不是盲目吹微调。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E1945-75CC-4FC0-BAB7-68357E792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526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平均回答长度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BDCDC3-2B35-432B-A742-8B5D7C4C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24150"/>
            <a:ext cx="65836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C64A70-A456-4540-8F4D-661D213D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8130" y="27813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Base 211.2 chars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750265-D6F4-4218-BD01-ECAFCC1D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86150"/>
            <a:ext cx="5025044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DCF919-9952-4F13-B9F4-46A44371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9494" y="35433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LoRA 161.2 chars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860A81-7A54-4E60-BD52-6C1E0FE0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0100"/>
            <a:ext cx="3143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77DDD9-48E9-4075-9F5D-2EB21C14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010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E8B685-304F-4E95-9DFD-607DE867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43450"/>
            <a:ext cx="2819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Base：150 条 holdout 中更像通用助手，off-domain 拒答 1/10。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9BA17C-0A45-4436-834B-3471A02A1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10100"/>
            <a:ext cx="3143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616C15-62EB-4F91-B78E-CE7406FB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1010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17D3E2-8D09-483A-AAE2-EAB915E5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743450"/>
            <a:ext cx="2819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LoRA：安全类拒答从 12 提升到 38，off-domain 拒答达到 10/10。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F2FB3-ADD3-49BD-B052-E85AD141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10100"/>
            <a:ext cx="3143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C4E34C-C904-416D-BEEB-89302459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1010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33D359-6E6F-4833-BE17-FF5AB525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43450"/>
            <a:ext cx="2819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限制：LoRA 仍不能裸用，正式链路必须先过安全门控和 RAG。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A11181-405E-4C44-A1E0-28C46106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0080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ShipVoice | 信息安全基础 A2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81D41A-EEC0-4B69-A598-E3D6F1E8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202692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FF5BCE-635A-4E0F-8B11-217725A9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F7F9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72FBD2-2B6B-40BE-ABC7-A0D41F86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677FBA-694F-4767-986B-F4317A7CF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REPRODUCIBILITY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B673A6-CFCC-4E6A-A916-1C201167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85800"/>
            <a:ext cx="9334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21826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21826"/>
                </a:solidFill>
                <a:latin typeface="Aptos Display"/>
                <a:ea typeface="Aptos Display"/>
                <a:cs typeface="Aptos Display"/>
              </a:rPr>
              <a:t>交付物不是截图工程：代码、日志、adapter、评测都可追溯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7F081-C1BB-4776-946B-AD249F28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老师可以从 README 跑到验证脚本。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0F387-746E-445B-8A00-42D780D1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764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F"/>
          </a:solidFill>
          <a:ln xmlns:a="http://schemas.openxmlformats.org/drawingml/2006/main" w="0">
            <a:solidFill>
              <a:srgbClr val="E8F1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DB2987-BD6B-4221-B2D9-7270DF80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43075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本地验证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2A006B-ADB1-475F-A632-F256DC62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14500"/>
            <a:ext cx="7620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21826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21826"/>
                </a:solidFill>
                <a:latin typeface="Consolas"/>
                <a:ea typeface="Consolas"/>
                <a:cs typeface="Consolas"/>
              </a:rPr>
              <a:t>python scripts\\validate_project.py --quick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D21B0-4F6A-49A8-B033-01DE9C75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F"/>
          </a:solidFill>
          <a:ln xmlns:a="http://schemas.openxmlformats.org/drawingml/2006/main" w="0">
            <a:solidFill>
              <a:srgbClr val="E8F1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2C066F-82DE-4605-ADFE-AAE9B26B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本地演示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3B2E55-D2F5-4796-B1CE-733D3821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400300"/>
            <a:ext cx="7620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21826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21826"/>
                </a:solidFill>
                <a:latin typeface="Consolas"/>
                <a:ea typeface="Consolas"/>
                <a:cs typeface="Consolas"/>
              </a:rPr>
              <a:t>python run_demo.py -&gt; http://127.0.0.1:8010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96422C-54BF-4C8F-A427-9A7678E75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BF3"/>
          </a:solidFill>
          <a:ln xmlns:a="http://schemas.openxmlformats.org/drawingml/2006/main" w="0">
            <a:solidFill>
              <a:srgbClr val="EAFBF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21CBF8-F7F3-48BB-ABBE-540DF009C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4675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B9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B981"/>
                </a:solidFill>
                <a:latin typeface="Microsoft YaHei"/>
                <a:ea typeface="Microsoft YaHei"/>
                <a:cs typeface="Microsoft YaHei"/>
              </a:rPr>
              <a:t>安全评测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B09508-ABBA-455C-B14C-DA8E7814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086100"/>
            <a:ext cx="7620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21826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21826"/>
                </a:solidFill>
                <a:latin typeface="Consolas"/>
                <a:ea typeface="Consolas"/>
                <a:cs typeface="Consolas"/>
              </a:rPr>
              <a:t>python scripts\\evaluate_safety_gate.py --fail-on-critical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3D6ED9-E81A-45AF-AE65-AA17035B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BF3"/>
          </a:solidFill>
          <a:ln xmlns:a="http://schemas.openxmlformats.org/drawingml/2006/main" w="0">
            <a:solidFill>
              <a:srgbClr val="EAFB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DA2809-8107-4ACF-96E8-36B1BEAB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00475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B9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B981"/>
                </a:solidFill>
                <a:latin typeface="Microsoft YaHei"/>
                <a:ea typeface="Microsoft YaHei"/>
                <a:cs typeface="Microsoft YaHei"/>
              </a:rPr>
              <a:t>远端训练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047223-E48E-4DBE-BDB2-D91B09E4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71900"/>
            <a:ext cx="7620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21826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21826"/>
                </a:solidFill>
                <a:latin typeface="Consolas"/>
                <a:ea typeface="Consolas"/>
                <a:cs typeface="Consolas"/>
              </a:rPr>
              <a:t>remote/train_qwen_lora.py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6EEBAA-1FA0-4789-A4A9-1477AF5E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196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BF3"/>
          </a:solidFill>
          <a:ln xmlns:a="http://schemas.openxmlformats.org/drawingml/2006/main" w="0">
            <a:solidFill>
              <a:srgbClr val="EAFBF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76A68-AE0C-4031-932C-C035D0FA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86275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B9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B981"/>
                </a:solidFill>
                <a:latin typeface="Microsoft YaHei"/>
                <a:ea typeface="Microsoft YaHei"/>
                <a:cs typeface="Microsoft YaHei"/>
              </a:rPr>
              <a:t>远端评测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459B55-4461-4E63-8D96-24F87746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457700"/>
            <a:ext cx="7620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21826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21826"/>
                </a:solidFill>
                <a:latin typeface="Consolas"/>
                <a:ea typeface="Consolas"/>
                <a:cs typeface="Consolas"/>
              </a:rPr>
              <a:t>remote/evaluate_qwen_lora.py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4E94F2-DC56-4E87-8BE2-CC3317EE1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33400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811F2A-273F-4C76-94B8-B838C6EC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33400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61E4D0-7AB9-41D1-B25E-DA3ACF24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467350"/>
            <a:ext cx="882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21826"/>
                </a:solidFill>
                <a:latin typeface="Microsoft YaHei"/>
                <a:ea typeface="Microsoft YaHei"/>
                <a:cs typeface="Microsoft YaHei"/>
              </a:rPr>
              <a:t>核心证据目录：results/remote_autodl_20260621_expanded，包括训练日志、base/LoRA JSONL、adapter、结果摘要和远端状态。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CF8804-B254-45E8-AD75-E4E090610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0080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ShipVoice | 信息安全基础 A2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B317D6-A547-4ACB-A7AE-CDB06545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2639776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5E0247-A173-4F36-B9D8-533A02E7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solidFill>
              <a:srgbClr val="0B254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F20AFC-0435-45DD-89AC-A7313CF0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6B6D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BCE38D-0B31-4EA7-9AEB-69AC9067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720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rPr>
              <a:t>CONCLUSION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718A46-D30E-4F56-8E21-18A9DB17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85800"/>
            <a:ext cx="9334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最高价值：安全关键领域的可控语音问答系统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E5E36-3D38-48F5-B4E1-2AB23F0A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D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B9D6FF"/>
                </a:solidFill>
                <a:latin typeface="Microsoft YaHei"/>
                <a:ea typeface="Microsoft YaHei"/>
                <a:cs typeface="Microsoft YaHei"/>
              </a:rPr>
              <a:t>微调是加分项，安全架构才是核心竞争力。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74DA50-5164-48A9-A673-11BEDDA4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4762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45A"/>
          </a:solidFill>
          <a:ln xmlns:a="http://schemas.openxmlformats.org/drawingml/2006/main" w="9525">
            <a:solidFill>
              <a:srgbClr val="4B6F9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78E39A-D78B-40AA-8B16-9DC09878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A4F7D8-B5F2-40AC-BB45-86B93E1FF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76500"/>
            <a:ext cx="4400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DE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DDEBFF"/>
                </a:solidFill>
                <a:latin typeface="Microsoft YaHei"/>
                <a:ea typeface="Microsoft YaHei"/>
                <a:cs typeface="Microsoft YaHei"/>
              </a:rPr>
              <a:t>已经完成：可运行 demo、RAG、安全门控、benchmark、AutoDL 远端微调、base-vs-LoRA 对比、报告初稿。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C92353-C80B-44E3-94C6-131241B8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266950"/>
            <a:ext cx="4762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45A"/>
          </a:solidFill>
          <a:ln xmlns:a="http://schemas.openxmlformats.org/drawingml/2006/main" w="9525">
            <a:solidFill>
              <a:srgbClr val="4B6F9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6BE0E3-EAC3-4AE0-B653-3E91E4D10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26695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C96EBA-4394-4317-82DD-03BBF7BA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76500"/>
            <a:ext cx="4400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DE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DDEBFF"/>
                </a:solidFill>
                <a:latin typeface="Microsoft YaHei"/>
                <a:ea typeface="Microsoft YaHei"/>
                <a:cs typeface="Microsoft YaHei"/>
              </a:rPr>
              <a:t>后续补强：组员姓名学号、真实语音样例、答辩视频和最终提交包清理。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A02D0D-A77C-4F07-A75E-86D136F0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43400"/>
            <a:ext cx="10287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答辩收束句：我们不是把模型串起来，而是把安全边界、领域证据和实验闭环放进了语音问答系统。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0873AD-0D3F-4B9E-8F9F-5D101882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48350"/>
            <a:ext cx="10287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B7C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B7C9E8"/>
                </a:solidFill>
                <a:latin typeface="Microsoft YaHei"/>
                <a:ea typeface="Microsoft YaHei"/>
                <a:cs typeface="Microsoft YaHei"/>
              </a:rPr>
              <a:t>姓名 / 学号待补充</a:t>
            </a:r>
          </a:p>
        </p:txBody>
      </p:sp>
    </p:spTree>
    <p:extLst>
      <p:ext uri="{BB962C8B-B14F-4D97-AF65-F5344CB8AC3E}">
        <p14:creationId xmlns:p14="http://schemas.microsoft.com/office/powerpoint/2010/main" val="14382068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2026-06-21T08:28:51.3570000Z</dcterms:created>
  <dcterms:modified xsi:type="dcterms:W3CDTF">2026-06-21T08:28:51.3570000Z</dcterms:modified>
</coreProperties>
</file>