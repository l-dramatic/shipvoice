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eff459b894d64" /><Relationship Type="http://schemas.openxmlformats.org/officeDocument/2006/relationships/extended-properties" Target="/docProps/app.xml" Id="R48de109eea0d4300" /><Relationship Type="http://schemas.openxmlformats.org/officeDocument/2006/relationships/officeDocument" Target="/ppt/presentation.xml" Id="Rcb1c7c0c6995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b73cb48c64e25"/>
  </p:sldMasterIdLst>
  <p:notesMasterIdLst>
    <p:notesMasterId xmlns:r="http://schemas.openxmlformats.org/officeDocument/2006/relationships" r:id="Rbb9e889d9091492d"/>
  </p:notesMasterIdLst>
  <p:sldIdLst>
    <p:sldId xmlns:r="http://schemas.openxmlformats.org/officeDocument/2006/relationships" id="256" r:id="R6e132c3087984412"/>
    <p:sldId xmlns:r="http://schemas.openxmlformats.org/officeDocument/2006/relationships" id="257" r:id="R13e815bb330d4450"/>
    <p:sldId xmlns:r="http://schemas.openxmlformats.org/officeDocument/2006/relationships" id="258" r:id="R41b568431ed9479d"/>
    <p:sldId xmlns:r="http://schemas.openxmlformats.org/officeDocument/2006/relationships" id="259" r:id="R5729f186d14140f3"/>
    <p:sldId xmlns:r="http://schemas.openxmlformats.org/officeDocument/2006/relationships" id="260" r:id="R83211e0c8d5e4779"/>
    <p:sldId xmlns:r="http://schemas.openxmlformats.org/officeDocument/2006/relationships" id="261" r:id="Rc1c464c968c84bb3"/>
    <p:sldId xmlns:r="http://schemas.openxmlformats.org/officeDocument/2006/relationships" id="262" r:id="R683273eb0f8a47e0"/>
    <p:sldId xmlns:r="http://schemas.openxmlformats.org/officeDocument/2006/relationships" id="263" r:id="R12e80f747e344de0"/>
    <p:sldId xmlns:r="http://schemas.openxmlformats.org/officeDocument/2006/relationships" id="264" r:id="Rc753b5adc00141e9"/>
    <p:sldId xmlns:r="http://schemas.openxmlformats.org/officeDocument/2006/relationships" id="265" r:id="R8d733c0830fd48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a8917380748df" /><Relationship Type="http://schemas.openxmlformats.org/officeDocument/2006/relationships/slideMaster" Target="/ppt/slideMasters/slideMaster1.xml" Id="R84bb73cb48c64e25" /><Relationship Type="http://schemas.openxmlformats.org/officeDocument/2006/relationships/notesMaster" Target="/ppt/notesMasters/notesMaster1.xml" Id="Rbb9e889d9091492d" /><Relationship Type="http://schemas.openxmlformats.org/officeDocument/2006/relationships/presProps" Target="/ppt/presProps.xml" Id="R365555f8dabc467a" /><Relationship Type="http://schemas.openxmlformats.org/officeDocument/2006/relationships/viewProps" Target="/ppt/viewProps.xml" Id="R3ab7e625a15a4ca4" /><Relationship Type="http://schemas.openxmlformats.org/officeDocument/2006/relationships/tableStyles" Target="/ppt/tableStyles.xml" Id="R6323c78c63bf4dc9" /><Relationship Type="http://schemas.openxmlformats.org/officeDocument/2006/relationships/slide" Target="/ppt/slides/slide1.xml" Id="R6e132c3087984412" /><Relationship Type="http://schemas.openxmlformats.org/officeDocument/2006/relationships/slide" Target="/ppt/slides/slide2.xml" Id="R13e815bb330d4450" /><Relationship Type="http://schemas.openxmlformats.org/officeDocument/2006/relationships/slide" Target="/ppt/slides/slide3.xml" Id="R41b568431ed9479d" /><Relationship Type="http://schemas.openxmlformats.org/officeDocument/2006/relationships/slide" Target="/ppt/slides/slide4.xml" Id="R5729f186d14140f3" /><Relationship Type="http://schemas.openxmlformats.org/officeDocument/2006/relationships/slide" Target="/ppt/slides/slide5.xml" Id="R83211e0c8d5e4779" /><Relationship Type="http://schemas.openxmlformats.org/officeDocument/2006/relationships/slide" Target="/ppt/slides/slide6.xml" Id="Rc1c464c968c84bb3" /><Relationship Type="http://schemas.openxmlformats.org/officeDocument/2006/relationships/slide" Target="/ppt/slides/slide7.xml" Id="R683273eb0f8a47e0" /><Relationship Type="http://schemas.openxmlformats.org/officeDocument/2006/relationships/slide" Target="/ppt/slides/slide8.xml" Id="R12e80f747e344de0" /><Relationship Type="http://schemas.openxmlformats.org/officeDocument/2006/relationships/slide" Target="/ppt/slides/slide9.xml" Id="Rc753b5adc00141e9" /><Relationship Type="http://schemas.openxmlformats.org/officeDocument/2006/relationships/slide" Target="/ppt/slides/slide10.xml" Id="R8d733c0830fd48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49dc140ee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8b9062d9a46c1" /><Relationship Type="http://schemas.openxmlformats.org/officeDocument/2006/relationships/notesMaster" Target="/ppt/notesMasters/notesMaster1.xml" Id="R19918eaddc3646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020660f7e34721" /><Relationship Type="http://schemas.openxmlformats.org/officeDocument/2006/relationships/notesMaster" Target="/ppt/notesMasters/notesMaster1.xml" Id="Rb26314c94c464f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f4e1bbf3f46ab" /><Relationship Type="http://schemas.openxmlformats.org/officeDocument/2006/relationships/notesMaster" Target="/ppt/notesMasters/notesMaster1.xml" Id="R6f8d3fba0ed841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59a757f04546f1" /><Relationship Type="http://schemas.openxmlformats.org/officeDocument/2006/relationships/notesMaster" Target="/ppt/notesMasters/notesMaster1.xml" Id="R3e990ee7d662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8c5e3d4dd24847" /><Relationship Type="http://schemas.openxmlformats.org/officeDocument/2006/relationships/notesMaster" Target="/ppt/notesMasters/notesMaster1.xml" Id="R57a287a81b4644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9c4868a6424fc4" /><Relationship Type="http://schemas.openxmlformats.org/officeDocument/2006/relationships/notesMaster" Target="/ppt/notesMasters/notesMaster1.xml" Id="R3a9aa77f15504b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0078450fb04240" /><Relationship Type="http://schemas.openxmlformats.org/officeDocument/2006/relationships/notesMaster" Target="/ppt/notesMasters/notesMaster1.xml" Id="Rc2e97d3a0e7e49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a2ce9405364037" /><Relationship Type="http://schemas.openxmlformats.org/officeDocument/2006/relationships/notesMaster" Target="/ppt/notesMasters/notesMaster1.xml" Id="Rc97ccc7027cc49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44f00287644dc6" /><Relationship Type="http://schemas.openxmlformats.org/officeDocument/2006/relationships/notesMaster" Target="/ppt/notesMasters/notesMaster1.xml" Id="Rb9315735afb8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9303b53eda47e6" /><Relationship Type="http://schemas.openxmlformats.org/officeDocument/2006/relationships/notesMaster" Target="/ppt/notesMasters/notesMaster1.xml" Id="R2dda998dcfbf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374c3dbba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edfa5a61c4b85" /><Relationship Type="http://schemas.openxmlformats.org/officeDocument/2006/relationships/slideLayout" Target="/ppt/slideLayouts/slideLayout1.xml" Id="Rfd5c53b3408c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5c53b3408c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373a3e84747ec" /><Relationship Type="http://schemas.openxmlformats.org/officeDocument/2006/relationships/notesSlide" Target="/ppt/notesSlides/notesSlide1.xml" Id="Rea216e6aaf34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767d80ea6479f" /><Relationship Type="http://schemas.openxmlformats.org/officeDocument/2006/relationships/notesSlide" Target="/ppt/notesSlides/notesSlide2.xml" Id="R2fd16e2184be45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fe9f5d5364f83" /><Relationship Type="http://schemas.openxmlformats.org/officeDocument/2006/relationships/notesSlide" Target="/ppt/notesSlides/notesSlide3.xml" Id="Rf65be277ebb3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ecc647c994622" /><Relationship Type="http://schemas.openxmlformats.org/officeDocument/2006/relationships/notesSlide" Target="/ppt/notesSlides/notesSlide4.xml" Id="R6ce30fb45dc1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4ca00c2014083" /><Relationship Type="http://schemas.openxmlformats.org/officeDocument/2006/relationships/notesSlide" Target="/ppt/notesSlides/notesSlide5.xml" Id="Rc0b7731d1717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5923ecbd94477" /><Relationship Type="http://schemas.openxmlformats.org/officeDocument/2006/relationships/image" Target="/ppt/media/image.jpeg" Id="R597c063f184f46c8" /><Relationship Type="http://schemas.openxmlformats.org/officeDocument/2006/relationships/image" Target="/ppt/media/image2.jpeg" Id="R4cf2d92d27804516" /><Relationship Type="http://schemas.openxmlformats.org/officeDocument/2006/relationships/notesSlide" Target="/ppt/notesSlides/notesSlide6.xml" Id="R7feb256444584a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a978b20142f6" /><Relationship Type="http://schemas.openxmlformats.org/officeDocument/2006/relationships/notesSlide" Target="/ppt/notesSlides/notesSlide7.xml" Id="R0ba4df0d4c4945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27dadeee6475e" /><Relationship Type="http://schemas.openxmlformats.org/officeDocument/2006/relationships/notesSlide" Target="/ppt/notesSlides/notesSlide8.xml" Id="R68d07ec5058345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7cc4a3e5d41b9" /><Relationship Type="http://schemas.openxmlformats.org/officeDocument/2006/relationships/notesSlide" Target="/ppt/notesSlides/notesSlide9.xml" Id="R2119e1615f9f4e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161c6b384898" /><Relationship Type="http://schemas.openxmlformats.org/officeDocument/2006/relationships/notesSlide" Target="/ppt/notesSlides/notesSlide10.xml" Id="R5c15cbe727174e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8A791-20DA-4313-BDF7-6744C08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D51D3-64AF-4CCE-9F65-09C8207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6B993-ECDA-4119-B0B0-8807043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ShipVoice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F7244-429F-44CA-9765-17A7C38F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EB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DEBFF"/>
                </a:solidFill>
                <a:latin typeface="Aptos"/>
                <a:ea typeface="Aptos"/>
                <a:cs typeface="Aptos"/>
              </a:rPr>
              <a:t>船厂安全实时语音问答助手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E3A69-730F-4FC8-A6EE-0099EB6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C7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C7F5"/>
                </a:solidFill>
                <a:latin typeface="Aptos"/>
                <a:ea typeface="Aptos"/>
                <a:cs typeface="Aptos"/>
              </a:rPr>
              <a:t>A2 级联式语音问答系统复现与改进 | 安全门控 + RAG + Qwen LoRA 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3A411-1A9B-48C9-A234-0B9DF63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9C4F0-943E-4817-AE12-1AA7A9FB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060D3-0275-4F4A-AA4A-A622208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知识条目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2C796-845A-457C-B0F4-F709322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7B85D-D473-4E5E-ADF1-C156100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安全评测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0FD8E-72B0-4596-83E4-250740EA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DBF33-3CA9-4D2B-A801-5819111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危险误放行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3BEDB-6B54-463A-8B50-5E6F83C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1.78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0A084-8D4E-454A-9AA4-CA45B46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LoRA train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FCB9-8DEF-44A4-B293-849BC75C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68"/>
          </a:solidFill>
          <a:ln xmlns:a="http://schemas.openxmlformats.org/drawingml/2006/main" w="0">
            <a:solidFill>
              <a:srgbClr val="163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A99FF-90B2-4C50-BC95-97ACDCE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DE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BFF"/>
                </a:solidFill>
                <a:latin typeface="Aptos"/>
                <a:ea typeface="Aptos"/>
                <a:cs typeface="Aptos"/>
              </a:rPr>
              <a:t>姓名 / 学号待补充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FE00E-A543-4F61-9384-999C140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29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2026-06-08</a:t>
            </a:r>
          </a:p>
        </p:txBody>
      </p:sp>
    </p:spTree>
    <p:extLst>
      <p:ext uri="{BB962C8B-B14F-4D97-AF65-F5344CB8AC3E}">
        <p14:creationId xmlns:p14="http://schemas.microsoft.com/office/powerpoint/2010/main" val="14853182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D9A53-C822-4FFD-9EDD-74874B11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F2885-C56D-46B1-92BE-91E39B0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13CBD-D4BE-49CE-80CC-9661DCF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EDAE-9610-4229-AD88-7231455A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船厂安全问答不能只做“语音转文字 + 大模型”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A53FB-AE4B-4CE8-A116-4792F3E7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高风险作业场景需要领域术语、审批约束和拒答边界。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C4075-25D0-4800-9FB3-2A1E2B74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383C8-407C-473B-A027-14B70C2C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F9B86-DECC-4B66-8197-6514FAC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术语密集：密闭舱室、舾装、管路试压、分段吊装等问题需要专业语境。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A9D65-03DC-4595-8D1D-AFD95C6C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5399D-672B-49B9-A0DC-32662C5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FF850-6067-4162-8BB5-C630AAA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安全关键：错误建议可能诱导跳过审批、检测、监护或消防准备。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2078A-61E9-4802-8B7D-573854A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12E58-20C9-4D04-ACD3-83F639C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787A8-6B90-4CCD-9C23-11F3C14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0099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现场演示风险：GPU、网络或模型服务不可用时，系统仍要能稳定答辩。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E6DD-C3AB-4470-A55D-29F7EF3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69875-AB15-41D0-8BCA-D3CB13E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FB182-9A31-49BC-872C-F1D6352A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195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安全前置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7BAEB-401F-459F-8756-09856889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81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先门控，再生成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2E0D3-187A-4401-AB8B-8FB7CC1E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B5DA4-327D-475F-B64E-F133A5E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69EB9-8B4B-4BD5-BB36-93CD5C6C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195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证据约束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122B5-F854-46A3-ABC2-533C52D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81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RAG 不是装饰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8B2F7-D28C-4B75-858C-770A048A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2E90E-4C25-45E1-A82A-3AF3BAC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DF8FB-0F2D-4834-9A2A-E19C39F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95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可降级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6DB02-C2ED-43D7-BDD9-808D8050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81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mock fallback 保底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78921-4F1A-484B-BC85-05F59FDE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8003A-FCFF-4146-BFFA-4292980C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94579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7225E1-7E00-4A06-A04E-56E0D9FD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37706-56E8-48B2-A91E-E699456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F91A-CAD9-4C01-8BE9-7CF5D2EB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7A1D4-694A-4B72-A9B2-8BB6940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主链路是安全级联，不是裸模型链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4A7C-4CC3-4D60-A3AD-49EB113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每个模块都有可演示输出和实验记录。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9A13-B9CA-42AD-AE15-9160834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A62E3-8372-4CC0-A4B9-4EA00AA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12BDF-C9CE-41E5-B986-B4861DE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Voice /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12C42-41C7-41F3-B1D7-F6B34212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输入与转写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4163A-1E56-4B53-8A3B-F8C754A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DF814-A6F6-4FCF-963B-4C35EC5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87444-07E0-4ADE-B2B5-19F826DA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2C938-CD02-47A7-8C2E-A78AE6C0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D9E77-05B9-48DA-9B8A-6BC18C1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696A3-B859-4FD7-AD7E-5BD5F2D1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术语保留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2C843-430B-4F99-B660-9A597B1C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AB73E-C373-41DB-A7D3-8CC6F187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DBFEF-AE5A-4A27-9D19-B9C4DB9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C6210-CF4D-4AA1-B305-5CBD382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29231-267B-403B-9106-4B11F6D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9A0A0-F814-460C-AFCB-DFBF2588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越界拒答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2DC07-5D3E-4FF4-AE79-D32913C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E988B-6B02-4D43-8B9E-82039DF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F23F9-2D2F-475C-B4BC-37F03FB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A836F-A81B-446B-86F1-20C5701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E1BC9-5FFE-4F2A-BEA8-29604C6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A9083-8A32-414F-98B6-FA586E9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证据检索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E9A46-4449-4450-AAD9-C3CBAB31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D76C3-437A-42FE-94F9-4187B955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9D2C1-8E7F-4174-B10B-3D9663BE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E90E4-9267-45AB-8C51-43A3D5E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987D3-AD68-461F-AD81-06AAB3F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8D0BA2-5B1A-4A1F-94C7-7502F9DA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回答生成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D12136-E2FD-43D1-866F-FAC5D87F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E52DA-2266-407C-A2B1-4ABA4BAF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23989-79E9-4FC8-A3B0-88AA185F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588235-C239-4313-9124-8092E475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5DE76-CEAB-4946-ACF4-974B60F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Playback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650526-43B7-4ADB-9067-82EC6064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句级播报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60FA80-8695-4FBB-B1F5-DFE3EB84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57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F34E2-6C41-4380-8EB2-842F5B4D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705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2C3330-3764-4F74-AAF7-C2208831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1390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150507-39B8-4DFE-BD66-BD6E70D7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1390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2E5F0D-5C65-4A31-8B29-86D4765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289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Logging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F7B447-7BBE-474F-B67C-881C25E1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718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指标记录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A4DBBC-DBBB-4FB9-B590-D87E210E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solidFill>
              <a:srgbClr val="FFF1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72CEBC-9D48-4BB5-873D-58243C6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38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原则 1：危险请求在模型前拦截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B654EE-64CD-496A-938D-B58567B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71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3C9D9F-6CAD-4F48-A031-809C4DB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38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原则 2：领域回答必须带证据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81525A-67FF-43BC-8D3F-CC5A84DF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0">
            <a:solidFill>
              <a:srgbClr val="EAFBF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BE7233-4A0B-4307-82BA-9B2A33FB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38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原则 3：答辩现场可无 GPU 运行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F3A1A8-D830-417C-AF6E-B4F9579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FCC0B1-A456-4998-B6CE-D3A9C7B3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4226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3B5CC6-34C0-4A94-8753-B31E0200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484D-DB65-4ADF-99F4-E96AF29F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C465B-6F76-4076-ABFB-1D288CC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RAG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CBDEE-D10F-4D03-A02D-BC527DC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知识库让回答可解释，检索评测让结果可量化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E4544-08B3-44BC-A556-C32B7E0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不是凭空生成安全建议。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F2B3-77A9-4228-959D-96F625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1B538-851E-4668-81BC-ED4270F3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086ED-D91C-4A85-992F-68C699F8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86FA4-7216-40FF-89E8-0BE893B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船厂安全知识条目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17D95-6543-4E4B-B9C1-AE1F899A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38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15C69-7D7B-4CE2-8974-7AE21B14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02577-D28B-4A75-9659-76EEE5F8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FE860-2B23-4E07-AE9C-B1C55805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代表问题 hit@1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40CC1-2CD8-404A-9A11-8B55214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EAEA7-F591-45D9-87A8-1276CAFF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F3118-B999-460E-A80E-3ED8C992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5A884-BC16-4BC7-B1E9-698E7CC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代表问题 hit@3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F9D18-DD5E-4FC4-8972-18D6986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7A1DF-98A9-4B78-969E-D7D62B26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01103-B3A2-41DF-B7FE-8F0BD48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1D139-9636-418E-A0A9-8366C0C2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每次回答展示证据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0C5A3-781C-4E16-88EE-DD4634D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57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E8FB7-EF86-4066-B792-664A6FD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3F120-AC9F-420C-8BB2-C7ABD6E4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4248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覆盖主题：密闭舱室、动火、高处焊接、船体分段吊装、舾装管路试压、压载水舱检修、PPE、应急处置、术语识别。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3BE77-5EB6-4D90-8B06-CA88AC06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57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0722F-8654-40DA-878E-776ED45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310C4-1B9F-475A-8BFD-1D580EA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4248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证据展示：每次回答显示 top-k 知识条目、检索分数和门控标签，便于老师现场追问时解释系统行为。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DD8012-5B64-441B-BFCD-7791630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511DC-901E-43A8-AB47-B48FADE9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79288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808C4-0F37-43B3-85A5-C4CBDB0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BFF33-AE85-41EB-88B9-D30515FC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D930A-8855-4C66-9025-634AD4D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SAFETY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960C-290C-4BC2-BE86-70D86EF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安全门控把高风险输入挡在生成之前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3954C-6C97-4422-B3E6-529CCBBB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55 条 benchmark 验证离题、违规绕行、提示注入和边界应急。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91ABA-78C5-4D0D-8538-9C914B5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D3446-5D04-4186-9F59-57B5CAEF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off-domain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1C4BD-3EE5-4A86-A983-DBDF36DA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00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股票投资等非船厂安全问题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40082-2F13-45BB-944E-292385BD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短路拒答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14670-1572-4D2A-927F-F438B6C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0"/>
          </a:solidFill>
          <a:ln xmlns:a="http://schemas.openxmlformats.org/drawingml/2006/main" w="0">
            <a:solidFill>
              <a:srgbClr val="DD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139B0-BBB5-4125-8C04-1629E34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solidFill>
              <a:srgbClr val="FFF1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CE275-1831-41D0-85CD-0432956C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unsafe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038C5-380E-4E72-9469-623A67A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19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绕过检查、跳过审批、破坏流程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30AF8-0B57-41AD-865E-8BE4494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拒绝并重申规范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53347-615F-4D6E-84F2-E2DFA94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0"/>
          </a:solidFill>
          <a:ln xmlns:a="http://schemas.openxmlformats.org/drawingml/2006/main" w="0">
            <a:solidFill>
              <a:srgbClr val="DDE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8D82A-78B9-4545-8427-624F6AE3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0">
            <a:solidFill>
              <a:srgbClr val="FFF1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6B7EE-D26A-4273-9BAF-802979D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prompt injection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1C874-5B08-4861-A6A9-02F272AA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要求忽略安全规则或规避审批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EAD2E-8024-40CB-9740-D8996C3F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不服从恶意指令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BBD14-2758-46FD-AA1F-E864C9EB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0"/>
          </a:solidFill>
          <a:ln xmlns:a="http://schemas.openxmlformats.org/drawingml/2006/main" w="0">
            <a:solidFill>
              <a:srgbClr val="DDE5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8CC3B-591B-4A51-A6DD-0863A754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0">
            <a:solidFill>
              <a:srgbClr val="EAFB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1BF33-69EB-494A-99C0-4271461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domain-safe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E0B7B-7825-4EF5-ABB0-EE07F2A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577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密闭舱室、动火、吊装、试压等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D4257-5501-4657-B73C-19008369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进入 RAG + 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9C68C-A3FB-4CFF-93F9-FAADB93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0"/>
          </a:solidFill>
          <a:ln xmlns:a="http://schemas.openxmlformats.org/drawingml/2006/main" w="0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FA40E-2129-4C4C-8CA8-97E07A69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7D31A-5717-4779-ADAB-79182912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EAC15-B3A4-4BDD-85E5-484863D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57850"/>
            <a:ext cx="920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当前完整 pipeline 安全评测：标签准确率 100.0%，allow/block 决策准确率 100.0%，危险请求误放行 0。LoRA 不能绕过门控。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76E31-A698-4BAC-9398-6D0E5A5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3892C-A317-48BE-86A0-1AD2DBE8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38546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D20D8-721E-4503-823E-59F52290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5E664-E5A6-4DA6-A707-50F53B29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A864B-B05E-48E3-BF99-8B4CF7A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BAAC1-1BE3-42CC-8591-A1B3A1FF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本地演示面板展示完整决策过程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F4AEB-D9F6-45C3-BF50-8D713BCC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无 GPU 时也可以跑通输入、门控、证据、回答和指标。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c063f184f46c8"/>
          <a:stretch xmlns:a="http://schemas.openxmlformats.org/drawingml/2006/main"/>
        </p:blipFill>
        <p:spPr>
          <a:xfrm xmlns:a="http://schemas.openxmlformats.org/drawingml/2006/main">
            <a:off x="666750" y="1916454"/>
            <a:ext cx="5143500" cy="2929842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2d92d27804516"/>
          <a:stretch xmlns:a="http://schemas.openxmlformats.org/drawingml/2006/main"/>
        </p:blipFill>
        <p:spPr>
          <a:xfrm xmlns:a="http://schemas.openxmlformats.org/drawingml/2006/main">
            <a:off x="6477000" y="1970710"/>
            <a:ext cx="4953000" cy="282132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EDA50-4022-4F31-872E-AC6E87C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演示问题覆盖：安全作业、领域术语、off-domain、危险请求、prompt injection。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4E7D0-9554-49B1-8ADA-982C448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BD4FA-CCEC-4B28-83A5-1C1AFA61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5798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48C97-65D5-4175-8E1E-2BA9F984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4B8C6-E0B7-47B1-B4F8-BEB84FBC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2B5B5-CD86-40E9-8AC9-BE6206A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3FA76-5829-42F1-B4A1-AFD8930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LoRA/QLoRA 是超出要求的领域适配实验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1B985-F4F3-4FA7-92DA-5AFFDFD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我们跑了真实远端 GPU 训练，而不是只写计划。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5ABC8-484E-425A-8D4C-D302FD7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8EB86-E7B4-46BA-8EC9-F8C1D0E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C132D-0560-4694-8841-F2720E0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Qwen2.5-7B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545C0-324F-4D90-98CC-C85F7A4C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Base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882C-4497-45F7-B4AE-2EFE776C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6802-13EF-49F9-B714-C60FEB0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08C46-B69D-49F7-BBC5-8FCC68C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RTX 4090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EBB59-CC04-4422-A17D-89892F3E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24GB 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43B5E-BCD2-4B7B-B4C9-B705B142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19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B865E-3DBF-4A3C-AE4C-592C059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193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56D20-B92D-4C0C-B0CB-ED54C475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63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47B2F-979A-433B-AB8D-61F9675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SFT seed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54D0B-74BE-4EC7-8A1D-B6A5BBB7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5B4AF-046A-48E1-8E55-D4D6065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200CE-F784-4DE7-B004-62275C5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336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C1B51-B775-458C-9BE9-D7FF355D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optimizer steps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B9A99-CFF2-40C6-A091-320D9C19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476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440E8-8FE8-45E1-8F46-D3B05B5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21D09-8984-4E80-B30D-3D96EF7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152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训练配置：4-bit LoRA/QLoRA，target modules 覆盖 attention 与 MLP 投影层，2 epochs，最终 train_loss = 1.7777。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C533C-DFB0-4457-A06C-6DF3E336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4476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E2805-1030-414D-B289-43788ABC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13E15-C380-4C91-92BB-04E0A32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4152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产物证据：adapter_model.safetensors 约 154MB，base_eval.jsonl、lora_eval.jsonl、训练日志与 artifact manifest 均已拉回本地。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6C739-3054-4682-9183-5621B79C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4282D-4F89-4006-BE75-87731C7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35364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511163-E0C9-4D1D-8FDA-2B51450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5F86E-8472-4CE5-9DA7-CADE9C7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F391C-C9FC-4A1F-A2AF-DA2683F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97E39-EFD0-4574-9CE6-1CB47F4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Base 更稳，LoRA 更领域化；最终系统选择“门控 + RAG + 可选 LoRA”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C0766-FF2D-4850-AADB-C4B346AC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实验结果支持安全架构，而不是盲目吹微调。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85555-E03E-4F8C-BA19-2EBB4B03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1826"/>
                </a:solidFill>
                <a:latin typeface="Aptos"/>
                <a:ea typeface="Aptos"/>
                <a:cs typeface="Aptos"/>
              </a:rPr>
              <a:t>平均回答长度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E66E4-8AEA-444C-8CB4-0CAB8B2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611297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EEF6B-EC6F-4D7E-878E-1DF0780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422" y="2781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Base 196.1 chars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7B5ED-4706-4B91-9228-3DE648C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448263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DEF0B-EC7E-419A-8E98-C03D7D0B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088" y="3543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LoRA 143.8 chars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ABD00-A157-4AFC-A83F-FF3055D5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DBBD1-3462-4943-99EA-026467E6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47052-2BD9-4489-BDD9-432AD55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Base：off-domain 拒答更稳，重复更少，适合作为安全基线。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ABA91-98CF-4A6E-B339-EB5BFA3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F2DB2-D0CB-4CB8-9E30-2E5CBEBB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463BE-341A-4287-B4C3-AB448937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4345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LoRA：回答更短、更像船厂安全作业提示，领域风格更一致。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7CBB0-93A9-4423-B5BE-354F11D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CE771-E1BF-40A0-A54C-3AF15E0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A2260-A523-4F21-A4D5-CC200D7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限制：LoRA 对 off-domain 有轻微模板化过拟合，不能裸用。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4DD00-D34F-46EB-B4E0-447CB602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9BD20-A7B8-4EB4-AA40-B241326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92208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AD425-3C7D-4C9E-A82F-594F151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3250-8AEA-4201-A4B3-D2CD9516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19A32-A695-4517-AD6A-53E627CD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B30E7-7D36-4CD6-9D48-340710F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1826"/>
                </a:solidFill>
                <a:latin typeface="Aptos Display"/>
                <a:ea typeface="Aptos Display"/>
                <a:cs typeface="Aptos Display"/>
              </a:rPr>
              <a:t>交付物不是截图工程：代码、日志、adapter、评测都可追溯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64EC6-5C79-495E-AD19-0E29F800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老师可以从 README 跑到验证脚本。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E255-3690-4B0E-826B-BC08F804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7BF03-B5F8-4094-969D-75392C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本地验证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5C353-E92F-4801-9A6D-A6E228AC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145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rPr>
              <a:t>python scripts\\validate_project.py --quick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ADC3E-F92A-4B94-9A68-AF822F15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501B4-8B68-4897-ACC3-EEAE43A5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本地演示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6C63D-3188-4617-872C-A748DF17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03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rPr>
              <a:t>python run_demo.py -&gt; http://127.0.0.1:8010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AB619-4B73-4214-B11E-3C29603E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0">
            <a:solidFill>
              <a:srgbClr val="EAFB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475BC-20F1-469B-A11A-A3703D31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安全评测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34149-EC02-47D2-A0ED-BA5F0854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861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rPr>
              <a:t>python scripts\\evaluate_safety_gate.py --fail-on-critical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F6F85-E6B1-4255-B91F-8109C29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0">
            <a:solidFill>
              <a:srgbClr val="EAFB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C2FFF-D424-4874-AF88-2E172FA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远端训练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82544-1586-469C-8C47-3812229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719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rPr>
              <a:t>remote/train_qwen_lora.py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69ADF-15F4-4D43-8E90-F91E21E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3"/>
          </a:solidFill>
          <a:ln xmlns:a="http://schemas.openxmlformats.org/drawingml/2006/main" w="0">
            <a:solidFill>
              <a:srgbClr val="EAFB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3F67A-0294-4D10-BCAE-7996E6BE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远端评测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0D128-1B77-4421-9B91-6786FF3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5770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21826"/>
                </a:solidFill>
                <a:latin typeface="Aptos Mono"/>
                <a:ea typeface="Aptos Mono"/>
                <a:cs typeface="Aptos Mono"/>
              </a:rPr>
              <a:t>remote/evaluate_qwen_lora.py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381E5-484E-4993-8B9B-573F86A6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37239-9651-4389-83AB-5EA99E5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35EE9-073A-4275-B039-F59F593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82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18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1826"/>
                </a:solidFill>
                <a:latin typeface="Aptos"/>
                <a:ea typeface="Aptos"/>
                <a:cs typeface="Aptos"/>
              </a:rPr>
              <a:t>核心证据目录：results/remote_autodl_20260608_final，包括训练日志、base/LoRA JSONL、adapter 和结果摘要。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12EC3-4058-4984-8DDF-2B90E520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008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ShipVoice | 信息安全基础 A2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01992-62E0-47D3-A246-C0BC3487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25142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18BB3-994C-4AFD-B629-E532485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72051-83D6-4798-BFC8-DCF71B61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A08CA-0FCF-4B96-AE59-C7F7D0E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98A2D-258D-4CC2-8BF6-7AB81FED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最高价值：安全关键领域的可控语音问答系统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4389D-641C-472E-B883-2E414877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D6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D6FF"/>
                </a:solidFill>
                <a:latin typeface="Aptos"/>
                <a:ea typeface="Aptos"/>
                <a:cs typeface="Aptos"/>
              </a:rPr>
              <a:t>微调是加分项，安全架构才是核心竞争力。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1DA42-A629-48CB-9816-C7D86674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4B6F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2535-0221-41B2-AA1D-031CC4D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869C1-85A7-4AB6-AD9D-EFBC7A6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4400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B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BFF"/>
                </a:solidFill>
                <a:latin typeface="Aptos"/>
                <a:ea typeface="Aptos"/>
                <a:cs typeface="Aptos"/>
              </a:rPr>
              <a:t>已经完成：可运行 demo、RAG、安全门控、benchmark、AutoDL 远端微调、base-vs-LoRA 对比、报告初稿。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4DE03-7F04-47E7-91AF-18DB571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A"/>
          </a:solidFill>
          <a:ln xmlns:a="http://schemas.openxmlformats.org/drawingml/2006/main" w="9525">
            <a:solidFill>
              <a:srgbClr val="4B6F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E8F19-9ECC-4EF5-821D-47C49C65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C2551-D26F-41D2-AFD6-B721002F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400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B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BFF"/>
                </a:solidFill>
                <a:latin typeface="Aptos"/>
                <a:ea typeface="Aptos"/>
                <a:cs typeface="Aptos"/>
              </a:rPr>
              <a:t>后续补强：组员姓名学号、真实语音样例、答辩视频和最终提交包清理。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9DFD5-54AD-4ECD-82AE-55643395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答辩收束句：我们不是把模型串起来，而是把安全边界、领域证据和实验闭环放进了语音问答系统。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5684E-B029-4ADA-8231-9E4E96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7C9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7C9E8"/>
                </a:solidFill>
                <a:latin typeface="Aptos"/>
                <a:ea typeface="Aptos"/>
                <a:cs typeface="Aptos"/>
              </a:rPr>
              <a:t>姓名 / 学号待补充</a:t>
            </a:r>
          </a:p>
        </p:txBody>
      </p:sp>
    </p:spTree>
    <p:extLst>
      <p:ext uri="{BB962C8B-B14F-4D97-AF65-F5344CB8AC3E}">
        <p14:creationId xmlns:p14="http://schemas.microsoft.com/office/powerpoint/2010/main" val="483696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2026-06-07T18:35:34.2500000Z</dcterms:created>
  <dcterms:modified xsi:type="dcterms:W3CDTF">2026-06-07T18:35:34.2500000Z</dcterms:modified>
</coreProperties>
</file>